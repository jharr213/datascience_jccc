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8" r:id="rId3"/>
    <p:sldId id="259" r:id="rId4"/>
    <p:sldId id="257" r:id="rId5"/>
    <p:sldId id="260" r:id="rId6"/>
    <p:sldId id="261" r:id="rId7"/>
    <p:sldId id="262" r:id="rId8"/>
    <p:sldId id="263" r:id="rId9"/>
    <p:sldId id="266" r:id="rId10"/>
    <p:sldId id="268" r:id="rId11"/>
    <p:sldId id="269" r:id="rId12"/>
    <p:sldId id="267" r:id="rId13"/>
    <p:sldId id="270" r:id="rId14"/>
    <p:sldId id="271"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414272-25D8-D233-5D60-232E9C5F659D}" v="3551" dt="2026-07-29T22:55:19.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29T02:41:47.388"/>
    </inkml:context>
    <inkml:brush xml:id="br0">
      <inkml:brushProperty name="width" value="0.1" units="cm"/>
      <inkml:brushProperty name="height" value="0.1" units="cm"/>
      <inkml:brushProperty name="color" value="#E71224"/>
    </inkml:brush>
  </inkml:definitions>
  <inkml:trace contextRef="#ctx0" brushRef="#br0">25569 11629 16383 0 0,'4'3'0'0'0,"7"6"0"0"0,5 6 0 0 0,7 6 0 0 0,8 7 0 0 0,8 6 0 0 0,2 2 0 0 0,1 4 0 0 0,2 1 0 0 0,4 6 0 0 0,3 2 0 0 0,1 2 0 0 0,0-1 0 0 0,1-1 0 0 0,1 0 0 0 0,-1-4 0 0 0,-1-2 0 0 0,-5-5 0 0 0,-4-2 0 0 0,-3 1 0 0 0,-3-3 0 0 0,-1 0 0 0 0,-1-1 0 0 0,4 0 0 0 0,1 0 0 0 0,-1-1 0 0 0,0-1 0 0 0,-1-1 0 0 0,3 1 0 0 0,0 1 0 0 0,1 0 0 0 0,-1-2 0 0 0,1 0 0 0 0,-1-3 0 0 0,-2-2 0 0 0,-2-2 0 0 0,0-1 0 0 0,0-1 0 0 0,3 1 0 0 0,2 1 0 0 0,2 0 0 0 0,-3-1 0 0 0,1 0 0 0 0,-1 1 0 0 0,2 1 0 0 0,1 1 0 0 0,1 1 0 0 0,2 3 0 0 0,-2 2 0 0 0,-2 3 0 0 0,4 5 0 0 0,2 7 0 0 0,8 6 0 0 0,5 4 0 0 0,1 0 0 0 0,1 0 0 0 0,2 0 0 0 0,5 0 0 0 0,1-3 0 0 0,1-2 0 0 0,-1-3 0 0 0,-1-3 0 0 0,6 1 0 0 0,5 0 0 0 0,2-2 0 0 0,1-3 0 0 0,2 0 0 0 0,5 1 0 0 0,0-3 0 0 0,-1-2 0 0 0,6-2 0 0 0,9-3 0 0 0,17 3 0 0 0,8-1 0 0 0,7-6 0 0 0,9-7 0 0 0,7-6 0 0 0,7-5 0 0 0,6-3 0 0 0,-2-3 0 0 0,-7-1 0 0 0,-6 0 0 0 0,-2-2 0 0 0,-17 0 0 0 0,-21-1 0 0 0,-22 0 0 0 0,-16-2 0 0 0,-11-1 0 0 0,-9-1 0 0 0,-7-4 0 0 0,-7-5 0 0 0,-4-6 0 0 0,-1-11 0 0 0,2-14 0 0 0,1-9 0 0 0,-2-6 0 0 0,-2-2 0 0 0,-2-2 0 0 0,-2-2 0 0 0,-3 0 0 0 0,-5 3 0 0 0,-3 6 0 0 0,-4 4 0 0 0,-4 3 0 0 0,-2 5 0 0 0,-4 6 0 0 0,0 4 0 0 0,-2 4 0 0 0,0 6 0 0 0,0 6 0 0 0,-2 6 0 0 0,0 5 0 0 0,0 4 0 0 0,-1 2 0 0 0,1 1 0 0 0,-1 1 0 0 0,0-1 0 0 0,0 1 0 0 0,1-1 0 0 0,-1 0 0 0 0,-1 1 0 0 0,0-1-16383 0 0,0 0 16383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29T02:41:47.389"/>
    </inkml:context>
    <inkml:brush xml:id="br0">
      <inkml:brushProperty name="width" value="0.1" units="cm"/>
      <inkml:brushProperty name="height" value="0.1" units="cm"/>
      <inkml:brushProperty name="color" value="#E71224"/>
    </inkml:brush>
  </inkml:definitions>
  <inkml:trace contextRef="#ctx0" brushRef="#br0">32481 13651 16383 0 0,'-2'1'0'0'0,"-5"1"0"0"0,-6 1 0 0 0,-10 2 0 0 0,-11 2 0 0 0,-13 0 0 0 0,-14 2 0 0 0,-9 3 0 0 0,-6 5 0 0 0,-3 4 0 0 0,0 3 0 0 0,1 3 0 0 0,3 1 0 0 0,8-2 0 0 0,5 2 0 0 0,2 2 0 0 0,3 0 0 0 0,3-1 0 0 0,8-4 0 0 0,12-6 0 0 0,11-7 0 0 0,13-9 0 0 0,13-13-16383 0 0,8-4 16383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29T02:41:47.390"/>
    </inkml:context>
    <inkml:brush xml:id="br0">
      <inkml:brushProperty name="width" value="0.1" units="cm"/>
      <inkml:brushProperty name="height" value="0.1" units="cm"/>
      <inkml:brushProperty name="color" value="#E71224"/>
    </inkml:brush>
  </inkml:definitions>
  <inkml:trace contextRef="#ctx0" brushRef="#br0">32417 13782 16383 0 0,'2'0'0'0'0,"-1"1"0"0"0,1-1 0 0 0,0 0 0 0 0,0 0 0 0 0,4-2 0 0 0,8-1 0 0 0,4-1 0 0 0,4 1 0 0 0,1 2 0 0 0,2 4 0 0 0,3 6 0 0 0,5 6 0 0 0,1 6 0 0 0,1 8 0 0 0,0 9 0 0 0,-2 10 0 0 0,-3 7 0 0 0,-2 8 0 0 0,-3 4 0 0 0,-5 0 0 0 0,-4-2 0 0 0,-6-7 0 0 0,-3-10 0 0 0,-4-10 0 0 0,-3-6 0 0 0,-1-7 0 0 0,-2-5 0 0 0,0-6 0 0 0,0-6 0 0 0,2-4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dirty="0"/>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9962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3271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dirty="0"/>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9665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dirty="0"/>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6256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8248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626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3820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4724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dirty="0"/>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8374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4922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6570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3829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dirty="0"/>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18343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8798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7776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7307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9765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7/29/2026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439269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alcofi.org/data/oceanographic-data/bottle-database/" TargetMode="External"/><Relationship Id="rId7" Type="http://schemas.openxmlformats.org/officeDocument/2006/relationships/hyperlink" Target="https://pandas.pydata.org/docs/reference/api/pandas.DataFrame.rename.html" TargetMode="External"/><Relationship Id="rId2" Type="http://schemas.openxmlformats.org/officeDocument/2006/relationships/hyperlink" Target="https://calcofi.org/" TargetMode="External"/><Relationship Id="rId1" Type="http://schemas.openxmlformats.org/officeDocument/2006/relationships/slideLayout" Target="../slideLayouts/slideLayout2.xml"/><Relationship Id="rId6" Type="http://schemas.openxmlformats.org/officeDocument/2006/relationships/hyperlink" Target="https://pandas.pydata.org/pandas-docs/stable/reference/api/pandas.DataFrame.dropna.html" TargetMode="External"/><Relationship Id="rId5" Type="http://schemas.openxmlformats.org/officeDocument/2006/relationships/hyperlink" Target="https://www.nature.com/scitable/knowledge/library/key-physical-variables-in-the-ocean-temperature-102805293/" TargetMode="External"/><Relationship Id="rId4" Type="http://schemas.openxmlformats.org/officeDocument/2006/relationships/hyperlink" Target="https://www.epa.gov/national-aquatic-resource-surveys/indicators-salin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 to Data </a:t>
            </a:r>
            <a:r>
              <a:rPr lang="en-US"/>
              <a:t>Science </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a:t>Final Project</a:t>
            </a:r>
          </a:p>
          <a:p>
            <a:r>
              <a:rPr lang="en-US"/>
              <a:t>By Joseph harris</a:t>
            </a:r>
            <a:endParaRPr lang="en-US" dirty="0"/>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AFB941B-CDC2-CD66-BA0F-CCD1996C2296}"/>
              </a:ext>
            </a:extLst>
          </p:cNvPr>
          <p:cNvPicPr>
            <a:picLocks noChangeAspect="1"/>
          </p:cNvPicPr>
          <p:nvPr/>
        </p:nvPicPr>
        <p:blipFill>
          <a:blip r:embed="rId3"/>
          <a:srcRect l="15696" r="11478" b="-2"/>
          <a:stretch>
            <a:fillRect/>
          </a:stretch>
        </p:blipFill>
        <p:spPr>
          <a:xfrm>
            <a:off x="6762295"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11" name="Group 10">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2"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3"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4"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5"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6"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7"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1">
            <a:extLst>
              <a:ext uri="{FF2B5EF4-FFF2-40B4-BE49-F238E27FC236}">
                <a16:creationId xmlns:a16="http://schemas.microsoft.com/office/drawing/2014/main" id="{58AB488B-A978-7CC7-D7C8-66C6AC0CD608}"/>
              </a:ext>
            </a:extLst>
          </p:cNvPr>
          <p:cNvSpPr>
            <a:spLocks noGrp="1"/>
          </p:cNvSpPr>
          <p:nvPr>
            <p:ph type="title"/>
          </p:nvPr>
        </p:nvSpPr>
        <p:spPr>
          <a:xfrm>
            <a:off x="972080" y="685800"/>
            <a:ext cx="5260680" cy="1752599"/>
          </a:xfrm>
        </p:spPr>
        <p:txBody>
          <a:bodyPr>
            <a:normAutofit/>
          </a:bodyPr>
          <a:lstStyle/>
          <a:p>
            <a:pPr algn="l"/>
            <a:r>
              <a:rPr lang="en-US" dirty="0"/>
              <a:t>Dataset </a:t>
            </a:r>
            <a:r>
              <a:rPr lang="en-US" dirty="0" err="1"/>
              <a:t>Backgro</a:t>
            </a:r>
            <a:r>
              <a:rPr lang="en-US" dirty="0"/>
              <a:t>und</a:t>
            </a:r>
            <a:endParaRPr lang="en-US"/>
          </a:p>
        </p:txBody>
      </p:sp>
      <p:sp>
        <p:nvSpPr>
          <p:cNvPr id="3" name="Content Placeholder 2">
            <a:extLst>
              <a:ext uri="{FF2B5EF4-FFF2-40B4-BE49-F238E27FC236}">
                <a16:creationId xmlns:a16="http://schemas.microsoft.com/office/drawing/2014/main" id="{5F008E47-0583-614C-80DD-113F2251827F}"/>
              </a:ext>
            </a:extLst>
          </p:cNvPr>
          <p:cNvSpPr>
            <a:spLocks noGrp="1"/>
          </p:cNvSpPr>
          <p:nvPr>
            <p:ph idx="1"/>
          </p:nvPr>
        </p:nvSpPr>
        <p:spPr>
          <a:xfrm>
            <a:off x="643468" y="2666999"/>
            <a:ext cx="5260680" cy="3124201"/>
          </a:xfrm>
        </p:spPr>
        <p:txBody>
          <a:bodyPr>
            <a:normAutofit/>
          </a:bodyPr>
          <a:lstStyle/>
          <a:p>
            <a:r>
              <a:rPr lang="en-US" sz="1900" dirty="0"/>
              <a:t>The dataset is pulled from data that has been collected by </a:t>
            </a:r>
            <a:r>
              <a:rPr lang="en-US" sz="1900" dirty="0" err="1"/>
              <a:t>CalCOFI</a:t>
            </a:r>
            <a:r>
              <a:rPr lang="en-US" sz="1900" dirty="0"/>
              <a:t>, the California Cooperative Oceanic Fisheries Investigations ecosystem. ​</a:t>
            </a:r>
          </a:p>
          <a:p>
            <a:pPr>
              <a:buClr>
                <a:srgbClr val="1287C3"/>
              </a:buClr>
            </a:pPr>
            <a:r>
              <a:rPr lang="en-US" sz="1900"/>
              <a:t>The seawater samples this specific subset is pulled from was began in 1949 and is still being collected today. </a:t>
            </a:r>
          </a:p>
          <a:p>
            <a:pPr>
              <a:buClr>
                <a:srgbClr val="1287C3"/>
              </a:buClr>
            </a:pPr>
            <a:r>
              <a:rPr lang="en-US" sz="1900"/>
              <a:t>While the collection tool has changed at various times, since 1993 they have been using the CTD-Rosette (pictured on this slide.) </a:t>
            </a:r>
          </a:p>
        </p:txBody>
      </p:sp>
    </p:spTree>
    <p:extLst>
      <p:ext uri="{BB962C8B-B14F-4D97-AF65-F5344CB8AC3E}">
        <p14:creationId xmlns:p14="http://schemas.microsoft.com/office/powerpoint/2010/main" val="2485459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4AF1-C64A-04C2-2653-FA32092831E9}"/>
              </a:ext>
            </a:extLst>
          </p:cNvPr>
          <p:cNvSpPr>
            <a:spLocks noGrp="1"/>
          </p:cNvSpPr>
          <p:nvPr>
            <p:ph type="title"/>
          </p:nvPr>
        </p:nvSpPr>
        <p:spPr/>
        <p:txBody>
          <a:bodyPr/>
          <a:lstStyle/>
          <a:p>
            <a:r>
              <a:rPr lang="en-US" dirty="0"/>
              <a:t>Dataset </a:t>
            </a:r>
            <a:r>
              <a:rPr lang="en-US" dirty="0" err="1"/>
              <a:t>Backgro</a:t>
            </a:r>
            <a:r>
              <a:rPr lang="en-US" dirty="0"/>
              <a:t>und</a:t>
            </a:r>
          </a:p>
        </p:txBody>
      </p:sp>
      <p:sp>
        <p:nvSpPr>
          <p:cNvPr id="3" name="Content Placeholder 2">
            <a:extLst>
              <a:ext uri="{FF2B5EF4-FFF2-40B4-BE49-F238E27FC236}">
                <a16:creationId xmlns:a16="http://schemas.microsoft.com/office/drawing/2014/main" id="{290A9A1C-30D3-C78A-104C-7B96758FFF59}"/>
              </a:ext>
            </a:extLst>
          </p:cNvPr>
          <p:cNvSpPr>
            <a:spLocks noGrp="1"/>
          </p:cNvSpPr>
          <p:nvPr>
            <p:ph idx="1"/>
          </p:nvPr>
        </p:nvSpPr>
        <p:spPr>
          <a:xfrm>
            <a:off x="1484310" y="1948542"/>
            <a:ext cx="10018713" cy="3842658"/>
          </a:xfrm>
        </p:spPr>
        <p:txBody>
          <a:bodyPr>
            <a:normAutofit fontScale="85000" lnSpcReduction="10000"/>
          </a:bodyPr>
          <a:lstStyle/>
          <a:p>
            <a:r>
              <a:rPr lang="en-US" dirty="0"/>
              <a:t>Subset of the "Bottle Database" from </a:t>
            </a:r>
            <a:r>
              <a:rPr lang="en-US" dirty="0" err="1"/>
              <a:t>CalCOFI</a:t>
            </a:r>
          </a:p>
          <a:p>
            <a:pPr>
              <a:buClr>
                <a:srgbClr val="1287C3"/>
              </a:buClr>
            </a:pPr>
            <a:r>
              <a:rPr lang="en-US"/>
              <a:t>1000 rows and 6 columns before any data cleaning has been done</a:t>
            </a:r>
          </a:p>
          <a:p>
            <a:pPr>
              <a:buClr>
                <a:srgbClr val="1287C3"/>
              </a:buClr>
            </a:pPr>
            <a:r>
              <a:rPr lang="en-US" dirty="0"/>
              <a:t>The 6 columns and their data defini</a:t>
            </a:r>
            <a:r>
              <a:rPr lang="en-US"/>
              <a:t>tion: </a:t>
            </a:r>
          </a:p>
          <a:p>
            <a:pPr lvl="1">
              <a:buClr>
                <a:srgbClr val="1287C3"/>
              </a:buClr>
              <a:buFont typeface="Courier New"/>
              <a:buChar char="o"/>
            </a:pPr>
            <a:r>
              <a:rPr lang="en-US"/>
              <a:t>First column is unnamed and is likely the ID for that row</a:t>
            </a:r>
            <a:endParaRPr lang="en-US" dirty="0"/>
          </a:p>
          <a:p>
            <a:pPr lvl="1">
              <a:buClr>
                <a:srgbClr val="1287C3"/>
              </a:buClr>
              <a:buFont typeface="Courier New"/>
              <a:buChar char="o"/>
            </a:pPr>
            <a:r>
              <a:rPr lang="en-US" dirty="0" err="1"/>
              <a:t>Depthm</a:t>
            </a:r>
            <a:r>
              <a:rPr lang="en-US" dirty="0"/>
              <a:t>: How deep the collection bottles were in the ocean (in meters)</a:t>
            </a:r>
          </a:p>
          <a:p>
            <a:pPr lvl="1">
              <a:buClr>
                <a:srgbClr val="1287C3"/>
              </a:buClr>
              <a:buFont typeface="Courier New"/>
              <a:buChar char="o"/>
            </a:pPr>
            <a:r>
              <a:rPr lang="en-US" dirty="0" err="1"/>
              <a:t>T_degC</a:t>
            </a:r>
            <a:r>
              <a:rPr lang="en-US" dirty="0"/>
              <a:t>: The water temperature at the time of collection (this is in Celsius)</a:t>
            </a:r>
          </a:p>
          <a:p>
            <a:pPr lvl="1">
              <a:buClr>
                <a:srgbClr val="1287C3"/>
              </a:buClr>
              <a:buFont typeface="Courier New"/>
              <a:buChar char="o"/>
            </a:pPr>
            <a:r>
              <a:rPr lang="en-US" dirty="0" err="1"/>
              <a:t>Salnty</a:t>
            </a:r>
            <a:r>
              <a:rPr lang="en-US" dirty="0"/>
              <a:t>: The salinity of the water (the measurement of dissolved salts in the water)</a:t>
            </a:r>
          </a:p>
          <a:p>
            <a:pPr lvl="1">
              <a:buClr>
                <a:srgbClr val="1287C3"/>
              </a:buClr>
              <a:buFont typeface="Courier New"/>
              <a:buChar char="o"/>
            </a:pPr>
            <a:r>
              <a:rPr lang="en-US" dirty="0"/>
              <a:t>O2ml_L: </a:t>
            </a:r>
            <a:r>
              <a:rPr lang="en-US"/>
              <a:t>Milliliters</a:t>
            </a:r>
            <a:r>
              <a:rPr lang="en-US" dirty="0"/>
              <a:t> oxygen per liter of seawater</a:t>
            </a:r>
          </a:p>
          <a:p>
            <a:pPr lvl="1">
              <a:buClr>
                <a:srgbClr val="1287C3"/>
              </a:buClr>
              <a:buFont typeface="Courier New"/>
              <a:buChar char="o"/>
            </a:pPr>
            <a:r>
              <a:rPr lang="en-US" dirty="0" err="1"/>
              <a:t>STheta</a:t>
            </a:r>
            <a:r>
              <a:rPr lang="en-US" dirty="0"/>
              <a:t>: Potential Density (density of a fluid parcel like water if it were moved with no loss or gain in heat.) This data point allows for consistency across collections without having to consider the pressure in the ocean.</a:t>
            </a:r>
          </a:p>
        </p:txBody>
      </p:sp>
    </p:spTree>
    <p:extLst>
      <p:ext uri="{BB962C8B-B14F-4D97-AF65-F5344CB8AC3E}">
        <p14:creationId xmlns:p14="http://schemas.microsoft.com/office/powerpoint/2010/main" val="486235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B7A63-D2CA-FB67-D934-5FBC8D37455E}"/>
              </a:ext>
            </a:extLst>
          </p:cNvPr>
          <p:cNvSpPr>
            <a:spLocks noGrp="1"/>
          </p:cNvSpPr>
          <p:nvPr>
            <p:ph type="title"/>
          </p:nvPr>
        </p:nvSpPr>
        <p:spPr/>
        <p:txBody>
          <a:bodyPr/>
          <a:lstStyle/>
          <a:p>
            <a:r>
              <a:rPr lang="en-US"/>
              <a:t>Question:</a:t>
            </a:r>
          </a:p>
        </p:txBody>
      </p:sp>
      <p:sp>
        <p:nvSpPr>
          <p:cNvPr id="3" name="Content Placeholder 2">
            <a:extLst>
              <a:ext uri="{FF2B5EF4-FFF2-40B4-BE49-F238E27FC236}">
                <a16:creationId xmlns:a16="http://schemas.microsoft.com/office/drawing/2014/main" id="{B876D9C8-63C5-EAC4-DA84-40C6C5ADF375}"/>
              </a:ext>
            </a:extLst>
          </p:cNvPr>
          <p:cNvSpPr>
            <a:spLocks noGrp="1"/>
          </p:cNvSpPr>
          <p:nvPr>
            <p:ph idx="1"/>
          </p:nvPr>
        </p:nvSpPr>
        <p:spPr>
          <a:xfrm>
            <a:off x="1484310" y="2006599"/>
            <a:ext cx="10018713" cy="3124201"/>
          </a:xfrm>
        </p:spPr>
        <p:txBody>
          <a:bodyPr/>
          <a:lstStyle/>
          <a:p>
            <a:r>
              <a:rPr lang="en-US"/>
              <a:t>Does an increase in temperature lead to an increase in dissolved salt in the ocean water? </a:t>
            </a:r>
          </a:p>
          <a:p>
            <a:pPr lvl="1">
              <a:buClr>
                <a:srgbClr val="1287C3"/>
              </a:buClr>
              <a:buFont typeface="Courier New"/>
              <a:buChar char="o"/>
            </a:pPr>
            <a:r>
              <a:rPr lang="en-US" dirty="0"/>
              <a:t>Does the data show that if the water temperature goes up, does the </a:t>
            </a:r>
            <a:r>
              <a:rPr lang="en-US"/>
              <a:t>salinity</a:t>
            </a:r>
            <a:r>
              <a:rPr lang="en-US" dirty="0"/>
              <a:t> also go up? Are they potentially related in any way? </a:t>
            </a:r>
          </a:p>
          <a:p>
            <a:pPr lvl="1">
              <a:buClr>
                <a:srgbClr val="1287C3"/>
              </a:buClr>
              <a:buFont typeface="Courier New"/>
              <a:buChar char="o"/>
            </a:pPr>
            <a:r>
              <a:rPr lang="en-US" dirty="0"/>
              <a:t>What are some </a:t>
            </a:r>
            <a:r>
              <a:rPr lang="en-US"/>
              <a:t>theories</a:t>
            </a:r>
            <a:r>
              <a:rPr lang="en-US" dirty="0"/>
              <a:t> on what this means or what this could impact?</a:t>
            </a:r>
          </a:p>
        </p:txBody>
      </p:sp>
    </p:spTree>
    <p:extLst>
      <p:ext uri="{BB962C8B-B14F-4D97-AF65-F5344CB8AC3E}">
        <p14:creationId xmlns:p14="http://schemas.microsoft.com/office/powerpoint/2010/main" val="62576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67F72-19F0-BC73-E9BA-61EA87D8F51D}"/>
              </a:ext>
            </a:extLst>
          </p:cNvPr>
          <p:cNvSpPr>
            <a:spLocks noGrp="1"/>
          </p:cNvSpPr>
          <p:nvPr>
            <p:ph type="title"/>
          </p:nvPr>
        </p:nvSpPr>
        <p:spPr>
          <a:xfrm>
            <a:off x="1484311" y="685800"/>
            <a:ext cx="10018713" cy="809171"/>
          </a:xfrm>
        </p:spPr>
        <p:txBody>
          <a:bodyPr/>
          <a:lstStyle/>
          <a:p>
            <a:r>
              <a:rPr lang="en-US"/>
              <a:t>Data Cleaning Process</a:t>
            </a:r>
          </a:p>
        </p:txBody>
      </p:sp>
      <p:sp>
        <p:nvSpPr>
          <p:cNvPr id="3" name="Content Placeholder 2">
            <a:extLst>
              <a:ext uri="{FF2B5EF4-FFF2-40B4-BE49-F238E27FC236}">
                <a16:creationId xmlns:a16="http://schemas.microsoft.com/office/drawing/2014/main" id="{DE45CC99-B2F1-E6A4-B74F-E97FDFD0F8DA}"/>
              </a:ext>
            </a:extLst>
          </p:cNvPr>
          <p:cNvSpPr>
            <a:spLocks noGrp="1"/>
          </p:cNvSpPr>
          <p:nvPr>
            <p:ph idx="1"/>
          </p:nvPr>
        </p:nvSpPr>
        <p:spPr>
          <a:xfrm>
            <a:off x="1484310" y="1498599"/>
            <a:ext cx="10018713" cy="4292601"/>
          </a:xfrm>
        </p:spPr>
        <p:txBody>
          <a:bodyPr/>
          <a:lstStyle/>
          <a:p>
            <a:r>
              <a:rPr lang="en-US"/>
              <a:t>Data cleaning process (ETL)</a:t>
            </a:r>
          </a:p>
          <a:p>
            <a:pPr>
              <a:buClr>
                <a:srgbClr val="1287C3"/>
              </a:buClr>
            </a:pPr>
            <a:r>
              <a:rPr lang="en-US" dirty="0"/>
              <a:t>Python was used via Google </a:t>
            </a:r>
            <a:r>
              <a:rPr lang="en-US" dirty="0" err="1"/>
              <a:t>Colabs</a:t>
            </a:r>
            <a:endParaRPr lang="en-US"/>
          </a:p>
          <a:p>
            <a:pPr lvl="1">
              <a:buClr>
                <a:srgbClr val="1287C3"/>
              </a:buClr>
              <a:buFont typeface="Courier New"/>
              <a:buChar char="o"/>
            </a:pPr>
            <a:r>
              <a:rPr lang="en-US" dirty="0"/>
              <a:t>This was the most familiar tool/language discussed during class for me and felt more confident in getting </a:t>
            </a:r>
            <a:r>
              <a:rPr lang="en-US"/>
              <a:t>information from the data this way</a:t>
            </a:r>
          </a:p>
          <a:p>
            <a:pPr lvl="1">
              <a:buClr>
                <a:srgbClr val="1287C3"/>
              </a:buClr>
              <a:buFont typeface="Courier New"/>
              <a:buChar char="o"/>
            </a:pPr>
            <a:r>
              <a:rPr lang="en-US" dirty="0"/>
              <a:t>I used the lessons from this class to complete the data cleaning but I did complete a column rename and referred to the official Pandas Python documentation (source provided at end of slides)</a:t>
            </a:r>
          </a:p>
          <a:p>
            <a:pPr>
              <a:buClr>
                <a:srgbClr val="1287C3"/>
              </a:buClr>
            </a:pPr>
            <a:endParaRPr lang="en-US" dirty="0"/>
          </a:p>
          <a:p>
            <a:pPr lvl="1">
              <a:buClr>
                <a:srgbClr val="1287C3"/>
              </a:buClr>
              <a:buFont typeface="Courier New"/>
              <a:buChar char="o"/>
            </a:pPr>
            <a:endParaRPr lang="en-US" dirty="0"/>
          </a:p>
        </p:txBody>
      </p:sp>
    </p:spTree>
    <p:extLst>
      <p:ext uri="{BB962C8B-B14F-4D97-AF65-F5344CB8AC3E}">
        <p14:creationId xmlns:p14="http://schemas.microsoft.com/office/powerpoint/2010/main" val="55456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65E2-9435-5A3D-5724-74D77F331CB3}"/>
              </a:ext>
            </a:extLst>
          </p:cNvPr>
          <p:cNvSpPr>
            <a:spLocks noGrp="1"/>
          </p:cNvSpPr>
          <p:nvPr>
            <p:ph type="title"/>
          </p:nvPr>
        </p:nvSpPr>
        <p:spPr/>
        <p:txBody>
          <a:bodyPr/>
          <a:lstStyle/>
          <a:p>
            <a:r>
              <a:rPr lang="en-US"/>
              <a:t>Data Cleaning Process</a:t>
            </a:r>
          </a:p>
        </p:txBody>
      </p:sp>
      <p:sp>
        <p:nvSpPr>
          <p:cNvPr id="3" name="Content Placeholder 2">
            <a:extLst>
              <a:ext uri="{FF2B5EF4-FFF2-40B4-BE49-F238E27FC236}">
                <a16:creationId xmlns:a16="http://schemas.microsoft.com/office/drawing/2014/main" id="{B60F4507-7F33-85AE-DB1F-54F6C6F664BF}"/>
              </a:ext>
            </a:extLst>
          </p:cNvPr>
          <p:cNvSpPr>
            <a:spLocks noGrp="1"/>
          </p:cNvSpPr>
          <p:nvPr>
            <p:ph idx="1"/>
          </p:nvPr>
        </p:nvSpPr>
        <p:spPr>
          <a:xfrm>
            <a:off x="1484310" y="2079171"/>
            <a:ext cx="10018713" cy="3712029"/>
          </a:xfrm>
        </p:spPr>
        <p:txBody>
          <a:bodyPr/>
          <a:lstStyle/>
          <a:p>
            <a:r>
              <a:rPr lang="en-US" dirty="0"/>
              <a:t>First, I imported Pandas in to Python</a:t>
            </a:r>
          </a:p>
          <a:p>
            <a:pPr>
              <a:buClr>
                <a:srgbClr val="1287C3"/>
              </a:buClr>
            </a:pPr>
            <a:r>
              <a:rPr lang="en-US" dirty="0"/>
              <a:t>I followed that by adding the bottles.csv data to my JCCC Google Drive and then mounted it within my Python </a:t>
            </a:r>
            <a:r>
              <a:rPr lang="en-US"/>
              <a:t>notebook.</a:t>
            </a:r>
          </a:p>
          <a:p>
            <a:pPr>
              <a:buClr>
                <a:srgbClr val="1287C3"/>
              </a:buClr>
            </a:pPr>
            <a:r>
              <a:rPr lang="en-US" dirty="0"/>
              <a:t>I was able to gather some initial info; such as rows x columns (1000 x 6), that </a:t>
            </a:r>
            <a:r>
              <a:rPr lang="en-US"/>
              <a:t>there were NULL values in each column</a:t>
            </a:r>
          </a:p>
          <a:p>
            <a:pPr>
              <a:buClr>
                <a:srgbClr val="1287C3"/>
              </a:buClr>
            </a:pPr>
            <a:r>
              <a:rPr lang="en-US"/>
              <a:t>There was no clarifying info on what the unnamed column was</a:t>
            </a:r>
            <a:endParaRPr lang="en-US" dirty="0"/>
          </a:p>
          <a:p>
            <a:pPr lvl="1">
              <a:buClr>
                <a:srgbClr val="1287C3"/>
              </a:buClr>
              <a:buFont typeface="Courier New"/>
              <a:buChar char="o"/>
            </a:pPr>
            <a:r>
              <a:rPr lang="en-US" dirty="0"/>
              <a:t>It could be assum</a:t>
            </a:r>
            <a:r>
              <a:rPr lang="en-US"/>
              <a:t>ed that was the random ID number giving to that bottle but was unable to be confirmed via the data source</a:t>
            </a:r>
            <a:endParaRPr lang="en-US" dirty="0"/>
          </a:p>
        </p:txBody>
      </p:sp>
    </p:spTree>
    <p:extLst>
      <p:ext uri="{BB962C8B-B14F-4D97-AF65-F5344CB8AC3E}">
        <p14:creationId xmlns:p14="http://schemas.microsoft.com/office/powerpoint/2010/main" val="1672768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F81E3-135B-1000-ECCB-843093F0978A}"/>
              </a:ext>
            </a:extLst>
          </p:cNvPr>
          <p:cNvSpPr>
            <a:spLocks noGrp="1"/>
          </p:cNvSpPr>
          <p:nvPr>
            <p:ph type="title"/>
          </p:nvPr>
        </p:nvSpPr>
        <p:spPr>
          <a:xfrm>
            <a:off x="1484311" y="685800"/>
            <a:ext cx="10018713" cy="1034142"/>
          </a:xfrm>
        </p:spPr>
        <p:txBody>
          <a:bodyPr/>
          <a:lstStyle/>
          <a:p>
            <a:r>
              <a:rPr lang="en-US"/>
              <a:t>Data Cleaning Process</a:t>
            </a:r>
          </a:p>
        </p:txBody>
      </p:sp>
      <p:sp>
        <p:nvSpPr>
          <p:cNvPr id="3" name="Content Placeholder 2">
            <a:extLst>
              <a:ext uri="{FF2B5EF4-FFF2-40B4-BE49-F238E27FC236}">
                <a16:creationId xmlns:a16="http://schemas.microsoft.com/office/drawing/2014/main" id="{FBFB40D4-E5C5-4B83-C310-F18BD2A2ED2F}"/>
              </a:ext>
            </a:extLst>
          </p:cNvPr>
          <p:cNvSpPr>
            <a:spLocks noGrp="1"/>
          </p:cNvSpPr>
          <p:nvPr>
            <p:ph idx="1"/>
          </p:nvPr>
        </p:nvSpPr>
        <p:spPr>
          <a:xfrm>
            <a:off x="1484310" y="1592942"/>
            <a:ext cx="4111399" cy="4728029"/>
          </a:xfrm>
        </p:spPr>
        <p:txBody>
          <a:bodyPr>
            <a:normAutofit fontScale="85000" lnSpcReduction="10000"/>
          </a:bodyPr>
          <a:lstStyle/>
          <a:p>
            <a:r>
              <a:rPr lang="en-US" dirty="0"/>
              <a:t>I decided to add a new column that converts the </a:t>
            </a:r>
            <a:r>
              <a:rPr lang="en-US" dirty="0" err="1"/>
              <a:t>T_degC</a:t>
            </a:r>
            <a:r>
              <a:rPr lang="en-US" dirty="0"/>
              <a:t> column to </a:t>
            </a:r>
            <a:r>
              <a:rPr lang="en-US" dirty="0" err="1"/>
              <a:t>T_degrC</a:t>
            </a:r>
            <a:r>
              <a:rPr lang="en-US" dirty="0"/>
              <a:t> and would provide the temperatures in Fahrenheit. </a:t>
            </a:r>
          </a:p>
          <a:p>
            <a:pPr lvl="1">
              <a:buClr>
                <a:srgbClr val="1287C3"/>
              </a:buClr>
              <a:buFont typeface="Courier New"/>
              <a:buChar char="o"/>
            </a:pPr>
            <a:r>
              <a:rPr lang="en-US" dirty="0" err="1"/>
              <a:t>Df</a:t>
            </a:r>
            <a:r>
              <a:rPr lang="en-US" dirty="0"/>
              <a:t>['</a:t>
            </a:r>
            <a:r>
              <a:rPr lang="en-US" dirty="0" err="1"/>
              <a:t>T_degrC</a:t>
            </a:r>
            <a:r>
              <a:rPr lang="en-US" dirty="0"/>
              <a:t>'] = (</a:t>
            </a:r>
            <a:r>
              <a:rPr lang="en-US" dirty="0" err="1"/>
              <a:t>df</a:t>
            </a:r>
            <a:r>
              <a:rPr lang="en-US" dirty="0"/>
              <a:t>['</a:t>
            </a:r>
            <a:r>
              <a:rPr lang="en-US" dirty="0" err="1"/>
              <a:t>T_degC</a:t>
            </a:r>
            <a:r>
              <a:rPr lang="en-US" dirty="0"/>
              <a:t>'] * 9/5) + 32</a:t>
            </a:r>
          </a:p>
          <a:p>
            <a:pPr>
              <a:buClr>
                <a:srgbClr val="1287C3"/>
              </a:buClr>
            </a:pPr>
            <a:r>
              <a:rPr lang="en-US" dirty="0"/>
              <a:t>With the new column, I decided to make a slight change to it's header to make it more clear this is the temp converted to Fahrenheit. </a:t>
            </a:r>
          </a:p>
          <a:p>
            <a:pPr lvl="1">
              <a:buClr>
                <a:srgbClr val="1287C3"/>
              </a:buClr>
              <a:buFont typeface="Courier New"/>
              <a:buChar char="o"/>
            </a:pPr>
            <a:r>
              <a:rPr lang="en-US" dirty="0" err="1"/>
              <a:t>Df.rename</a:t>
            </a:r>
            <a:r>
              <a:rPr lang="en-US" dirty="0"/>
              <a:t>(columns={'</a:t>
            </a:r>
            <a:r>
              <a:rPr lang="en-US" dirty="0" err="1"/>
              <a:t>T_degrC</a:t>
            </a:r>
            <a:r>
              <a:rPr lang="en-US" dirty="0"/>
              <a:t>': '</a:t>
            </a:r>
            <a:r>
              <a:rPr lang="en-US" dirty="0" err="1"/>
              <a:t>T_degrF</a:t>
            </a:r>
            <a:r>
              <a:rPr lang="en-US" dirty="0"/>
              <a:t>'}, </a:t>
            </a:r>
            <a:r>
              <a:rPr lang="en-US" dirty="0" err="1"/>
              <a:t>inplace</a:t>
            </a:r>
            <a:r>
              <a:rPr lang="en-US" dirty="0"/>
              <a:t>=True)</a:t>
            </a:r>
          </a:p>
          <a:p>
            <a:pPr>
              <a:buClr>
                <a:srgbClr val="1287C3"/>
              </a:buClr>
            </a:pPr>
            <a:r>
              <a:rPr lang="en-US" dirty="0"/>
              <a:t>The new </a:t>
            </a:r>
            <a:r>
              <a:rPr lang="en-US" dirty="0" err="1"/>
              <a:t>dataframe</a:t>
            </a:r>
            <a:r>
              <a:rPr lang="en-US" dirty="0"/>
              <a:t> now looked like this:</a:t>
            </a:r>
          </a:p>
          <a:p>
            <a:pPr>
              <a:buClr>
                <a:srgbClr val="1287C3"/>
              </a:buClr>
            </a:pPr>
            <a:endParaRPr lang="en-US" dirty="0"/>
          </a:p>
        </p:txBody>
      </p:sp>
      <p:pic>
        <p:nvPicPr>
          <p:cNvPr id="4" name="Picture 3">
            <a:extLst>
              <a:ext uri="{FF2B5EF4-FFF2-40B4-BE49-F238E27FC236}">
                <a16:creationId xmlns:a16="http://schemas.microsoft.com/office/drawing/2014/main" id="{1C2E311E-8C68-5D85-1C84-A72CBBC69D8A}"/>
              </a:ext>
            </a:extLst>
          </p:cNvPr>
          <p:cNvPicPr>
            <a:picLocks noChangeAspect="1"/>
          </p:cNvPicPr>
          <p:nvPr/>
        </p:nvPicPr>
        <p:blipFill>
          <a:blip r:embed="rId2"/>
          <a:stretch>
            <a:fillRect/>
          </a:stretch>
        </p:blipFill>
        <p:spPr>
          <a:xfrm>
            <a:off x="6164035" y="1593396"/>
            <a:ext cx="5531757" cy="4324350"/>
          </a:xfrm>
          <a:prstGeom prst="rect">
            <a:avLst/>
          </a:prstGeom>
        </p:spPr>
      </p:pic>
    </p:spTree>
    <p:extLst>
      <p:ext uri="{BB962C8B-B14F-4D97-AF65-F5344CB8AC3E}">
        <p14:creationId xmlns:p14="http://schemas.microsoft.com/office/powerpoint/2010/main" val="91799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01C01-0E40-3B40-8893-485F720D8729}"/>
              </a:ext>
            </a:extLst>
          </p:cNvPr>
          <p:cNvSpPr>
            <a:spLocks noGrp="1"/>
          </p:cNvSpPr>
          <p:nvPr>
            <p:ph type="title"/>
          </p:nvPr>
        </p:nvSpPr>
        <p:spPr>
          <a:xfrm>
            <a:off x="1484311" y="685800"/>
            <a:ext cx="10018713" cy="1026885"/>
          </a:xfrm>
        </p:spPr>
        <p:txBody>
          <a:bodyPr/>
          <a:lstStyle/>
          <a:p>
            <a:r>
              <a:rPr lang="en-US"/>
              <a:t>Data Cleaning Process</a:t>
            </a:r>
          </a:p>
        </p:txBody>
      </p:sp>
      <p:sp>
        <p:nvSpPr>
          <p:cNvPr id="3" name="Content Placeholder 2">
            <a:extLst>
              <a:ext uri="{FF2B5EF4-FFF2-40B4-BE49-F238E27FC236}">
                <a16:creationId xmlns:a16="http://schemas.microsoft.com/office/drawing/2014/main" id="{3FEA3284-100F-AC3B-0178-27D6C053D00A}"/>
              </a:ext>
            </a:extLst>
          </p:cNvPr>
          <p:cNvSpPr>
            <a:spLocks noGrp="1"/>
          </p:cNvSpPr>
          <p:nvPr>
            <p:ph idx="1"/>
          </p:nvPr>
        </p:nvSpPr>
        <p:spPr>
          <a:xfrm>
            <a:off x="1484310" y="1563914"/>
            <a:ext cx="10018713" cy="4227286"/>
          </a:xfrm>
        </p:spPr>
        <p:txBody>
          <a:bodyPr>
            <a:normAutofit fontScale="92500" lnSpcReduction="20000"/>
          </a:bodyPr>
          <a:lstStyle/>
          <a:p>
            <a:r>
              <a:rPr lang="en-US" dirty="0"/>
              <a:t>Now that I had the temperature addressed, the NULL values needed to </a:t>
            </a:r>
            <a:r>
              <a:rPr lang="en-US"/>
              <a:t>be addressed. </a:t>
            </a:r>
            <a:endParaRPr lang="en-US" dirty="0"/>
          </a:p>
          <a:p>
            <a:pPr>
              <a:buClr>
                <a:srgbClr val="1287C3"/>
              </a:buClr>
            </a:pPr>
            <a:r>
              <a:rPr lang="en-US" dirty="0"/>
              <a:t>Reviewing data set in Excel, it was identifi</a:t>
            </a:r>
            <a:r>
              <a:rPr lang="en-US"/>
              <a:t>ed the only column that didn't have any nulls was the first, unnamed column. </a:t>
            </a:r>
          </a:p>
          <a:p>
            <a:pPr>
              <a:buClr>
                <a:srgbClr val="1287C3"/>
              </a:buClr>
            </a:pPr>
            <a:r>
              <a:rPr lang="en-US"/>
              <a:t>Some of the rows had multiple NULL values. </a:t>
            </a:r>
          </a:p>
          <a:p>
            <a:pPr lvl="1">
              <a:buClr>
                <a:srgbClr val="1287C3"/>
              </a:buClr>
              <a:buFont typeface="Courier New"/>
              <a:buChar char="o"/>
            </a:pPr>
            <a:r>
              <a:rPr lang="en-US" dirty="0"/>
              <a:t>So any row with 1 or more NULL value was dropped from the data frame. </a:t>
            </a:r>
          </a:p>
          <a:p>
            <a:pPr lvl="1">
              <a:buClr>
                <a:srgbClr val="1287C3"/>
              </a:buClr>
              <a:buFont typeface="Courier New"/>
              <a:buChar char="o"/>
            </a:pPr>
            <a:r>
              <a:rPr lang="en-US" dirty="0" err="1"/>
              <a:t>Df.dropna</a:t>
            </a:r>
            <a:r>
              <a:rPr lang="en-US" dirty="0"/>
              <a:t>(thresh=7)</a:t>
            </a:r>
          </a:p>
          <a:p>
            <a:pPr lvl="2">
              <a:buClr>
                <a:srgbClr val="1287C3"/>
              </a:buClr>
              <a:buFont typeface="Wingdings"/>
              <a:buChar char="§"/>
            </a:pPr>
            <a:r>
              <a:rPr lang="en-US" dirty="0"/>
              <a:t>This requires if the row did not have 7 values (as there is the new </a:t>
            </a:r>
            <a:r>
              <a:rPr lang="en-US" dirty="0" err="1"/>
              <a:t>T_degrF</a:t>
            </a:r>
            <a:r>
              <a:rPr lang="en-US" dirty="0"/>
              <a:t> column making it 7), then that row would be dropped from the data frame. </a:t>
            </a:r>
          </a:p>
          <a:p>
            <a:pPr lvl="1">
              <a:buClr>
                <a:srgbClr val="1287C3"/>
              </a:buClr>
              <a:buFont typeface="Courier New"/>
              <a:buChar char="o"/>
            </a:pPr>
            <a:r>
              <a:rPr lang="en-US" dirty="0"/>
              <a:t>This </a:t>
            </a:r>
            <a:r>
              <a:rPr lang="en-US"/>
              <a:t>brought it down from 1000 rows to 752 rows. </a:t>
            </a:r>
          </a:p>
          <a:p>
            <a:pPr>
              <a:buClr>
                <a:srgbClr val="1287C3"/>
              </a:buClr>
            </a:pPr>
            <a:r>
              <a:rPr lang="en-US" dirty="0"/>
              <a:t>This was done rather than adding the mean/median/</a:t>
            </a:r>
            <a:r>
              <a:rPr lang="en-US" dirty="0" err="1"/>
              <a:t>etc</a:t>
            </a:r>
            <a:r>
              <a:rPr lang="en-US" dirty="0"/>
              <a:t> to the NULL values due to the inconsistency across columns. </a:t>
            </a:r>
          </a:p>
        </p:txBody>
      </p:sp>
    </p:spTree>
    <p:extLst>
      <p:ext uri="{BB962C8B-B14F-4D97-AF65-F5344CB8AC3E}">
        <p14:creationId xmlns:p14="http://schemas.microsoft.com/office/powerpoint/2010/main" val="72377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1C7B1-F9EB-0ADC-1678-DCA6C2D34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5D8D1-7DF5-E4DA-0391-78076D921590}"/>
              </a:ext>
            </a:extLst>
          </p:cNvPr>
          <p:cNvSpPr>
            <a:spLocks noGrp="1"/>
          </p:cNvSpPr>
          <p:nvPr>
            <p:ph type="title"/>
          </p:nvPr>
        </p:nvSpPr>
        <p:spPr>
          <a:xfrm>
            <a:off x="1484311" y="685800"/>
            <a:ext cx="10018713" cy="1026885"/>
          </a:xfrm>
        </p:spPr>
        <p:txBody>
          <a:bodyPr/>
          <a:lstStyle/>
          <a:p>
            <a:r>
              <a:rPr lang="en-US"/>
              <a:t>Data Cleaning Process</a:t>
            </a:r>
          </a:p>
        </p:txBody>
      </p:sp>
      <p:sp>
        <p:nvSpPr>
          <p:cNvPr id="3" name="Content Placeholder 2">
            <a:extLst>
              <a:ext uri="{FF2B5EF4-FFF2-40B4-BE49-F238E27FC236}">
                <a16:creationId xmlns:a16="http://schemas.microsoft.com/office/drawing/2014/main" id="{3690DBBE-8896-9F5E-AC97-91D24D3CF7BB}"/>
              </a:ext>
            </a:extLst>
          </p:cNvPr>
          <p:cNvSpPr>
            <a:spLocks noGrp="1"/>
          </p:cNvSpPr>
          <p:nvPr>
            <p:ph idx="1"/>
          </p:nvPr>
        </p:nvSpPr>
        <p:spPr>
          <a:xfrm>
            <a:off x="1484310" y="1563914"/>
            <a:ext cx="3966256" cy="3240315"/>
          </a:xfrm>
        </p:spPr>
        <p:txBody>
          <a:bodyPr>
            <a:normAutofit/>
          </a:bodyPr>
          <a:lstStyle/>
          <a:p>
            <a:r>
              <a:rPr lang="en-US" dirty="0"/>
              <a:t>The final step I took was to create a new </a:t>
            </a:r>
            <a:r>
              <a:rPr lang="en-US" dirty="0" err="1"/>
              <a:t>dataframe</a:t>
            </a:r>
            <a:r>
              <a:rPr lang="en-US" dirty="0"/>
              <a:t>, so not to cause issues when creating the scatter plot. </a:t>
            </a:r>
          </a:p>
          <a:p>
            <a:pPr lvl="1">
              <a:buClr>
                <a:srgbClr val="1287C3"/>
              </a:buClr>
              <a:buFont typeface="Courier New"/>
              <a:buChar char="o"/>
            </a:pPr>
            <a:r>
              <a:rPr lang="en-US" dirty="0" err="1"/>
              <a:t>Df</a:t>
            </a:r>
            <a:r>
              <a:rPr lang="en-US" dirty="0"/>
              <a:t>=</a:t>
            </a:r>
            <a:r>
              <a:rPr lang="en-US" dirty="0" err="1"/>
              <a:t>df.dropna</a:t>
            </a:r>
            <a:r>
              <a:rPr lang="en-US" dirty="0"/>
              <a:t>(thresh=7)​</a:t>
            </a:r>
          </a:p>
          <a:p>
            <a:pPr marL="0" indent="0">
              <a:buClr>
                <a:srgbClr val="1287C3"/>
              </a:buClr>
              <a:buNone/>
            </a:pPr>
            <a:endParaRPr lang="en-US" dirty="0"/>
          </a:p>
        </p:txBody>
      </p:sp>
      <p:pic>
        <p:nvPicPr>
          <p:cNvPr id="4" name="Picture 3">
            <a:extLst>
              <a:ext uri="{FF2B5EF4-FFF2-40B4-BE49-F238E27FC236}">
                <a16:creationId xmlns:a16="http://schemas.microsoft.com/office/drawing/2014/main" id="{87745566-595D-B601-DBBE-D3B0AA9C631F}"/>
              </a:ext>
            </a:extLst>
          </p:cNvPr>
          <p:cNvPicPr>
            <a:picLocks noChangeAspect="1"/>
          </p:cNvPicPr>
          <p:nvPr/>
        </p:nvPicPr>
        <p:blipFill>
          <a:blip r:embed="rId2"/>
          <a:stretch>
            <a:fillRect/>
          </a:stretch>
        </p:blipFill>
        <p:spPr>
          <a:xfrm>
            <a:off x="5925457" y="1944461"/>
            <a:ext cx="5392058" cy="3912508"/>
          </a:xfrm>
          <a:prstGeom prst="rect">
            <a:avLst/>
          </a:prstGeom>
        </p:spPr>
      </p:pic>
    </p:spTree>
    <p:extLst>
      <p:ext uri="{BB962C8B-B14F-4D97-AF65-F5344CB8AC3E}">
        <p14:creationId xmlns:p14="http://schemas.microsoft.com/office/powerpoint/2010/main" val="3799101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A25DD-55D4-2DD1-6EBC-6947753E9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863A8-AB00-C846-0AD5-6DF919581019}"/>
              </a:ext>
            </a:extLst>
          </p:cNvPr>
          <p:cNvSpPr>
            <a:spLocks noGrp="1"/>
          </p:cNvSpPr>
          <p:nvPr>
            <p:ph type="title"/>
          </p:nvPr>
        </p:nvSpPr>
        <p:spPr>
          <a:xfrm>
            <a:off x="1484311" y="685800"/>
            <a:ext cx="10018713" cy="838199"/>
          </a:xfrm>
        </p:spPr>
        <p:txBody>
          <a:bodyPr/>
          <a:lstStyle/>
          <a:p>
            <a:r>
              <a:rPr lang="en-US"/>
              <a:t>Scatter Plot</a:t>
            </a:r>
          </a:p>
        </p:txBody>
      </p:sp>
      <p:sp>
        <p:nvSpPr>
          <p:cNvPr id="3" name="Content Placeholder 2">
            <a:extLst>
              <a:ext uri="{FF2B5EF4-FFF2-40B4-BE49-F238E27FC236}">
                <a16:creationId xmlns:a16="http://schemas.microsoft.com/office/drawing/2014/main" id="{638F3C3A-FF1A-F9F8-580D-736826F6ABC6}"/>
              </a:ext>
            </a:extLst>
          </p:cNvPr>
          <p:cNvSpPr>
            <a:spLocks noGrp="1"/>
          </p:cNvSpPr>
          <p:nvPr>
            <p:ph idx="1"/>
          </p:nvPr>
        </p:nvSpPr>
        <p:spPr>
          <a:xfrm>
            <a:off x="1484310" y="1650999"/>
            <a:ext cx="3937228" cy="4234543"/>
          </a:xfrm>
        </p:spPr>
        <p:txBody>
          <a:bodyPr>
            <a:normAutofit fontScale="85000" lnSpcReduction="20000"/>
          </a:bodyPr>
          <a:lstStyle/>
          <a:p>
            <a:r>
              <a:rPr lang="en-US"/>
              <a:t>Once the data had been cleaned, it was time to use Python to create a Scatter Plot. </a:t>
            </a:r>
          </a:p>
          <a:p>
            <a:pPr>
              <a:buClr>
                <a:srgbClr val="1287C3"/>
              </a:buClr>
            </a:pPr>
            <a:r>
              <a:rPr lang="en-US" dirty="0"/>
              <a:t>First scatter plot: </a:t>
            </a:r>
            <a:r>
              <a:rPr lang="en-US" dirty="0" err="1"/>
              <a:t>df.plot.scatter</a:t>
            </a:r>
            <a:r>
              <a:rPr lang="en-US" dirty="0"/>
              <a:t>('</a:t>
            </a:r>
            <a:r>
              <a:rPr lang="en-US" dirty="0" err="1"/>
              <a:t>Salnty</a:t>
            </a:r>
            <a:r>
              <a:rPr lang="en-US" dirty="0"/>
              <a:t>', '</a:t>
            </a:r>
            <a:r>
              <a:rPr lang="en-US" dirty="0" err="1"/>
              <a:t>T_degrF</a:t>
            </a:r>
            <a:r>
              <a:rPr lang="en-US" dirty="0"/>
              <a:t>');</a:t>
            </a:r>
          </a:p>
          <a:p>
            <a:pPr>
              <a:buClr>
                <a:srgbClr val="1287C3"/>
              </a:buClr>
            </a:pPr>
            <a:r>
              <a:rPr lang="en-US" dirty="0"/>
              <a:t>No linear relationship could be derived </a:t>
            </a:r>
            <a:r>
              <a:rPr lang="en-US" err="1"/>
              <a:t>fr</a:t>
            </a:r>
            <a:r>
              <a:rPr lang="en-US" dirty="0"/>
              <a:t>om this; there is high salinity at both high and low temps as well as low salini</a:t>
            </a:r>
            <a:r>
              <a:rPr lang="en-US"/>
              <a:t>ty at both high and low temps.</a:t>
            </a:r>
          </a:p>
          <a:p>
            <a:pPr>
              <a:buClr>
                <a:srgbClr val="1287C3"/>
              </a:buClr>
            </a:pPr>
            <a:r>
              <a:rPr lang="en-US"/>
              <a:t>It does show that there are some outliers; I will remove those as well</a:t>
            </a:r>
            <a:endParaRPr lang="en-US" dirty="0"/>
          </a:p>
        </p:txBody>
      </p:sp>
      <p:pic>
        <p:nvPicPr>
          <p:cNvPr id="4" name="Picture 3">
            <a:extLst>
              <a:ext uri="{FF2B5EF4-FFF2-40B4-BE49-F238E27FC236}">
                <a16:creationId xmlns:a16="http://schemas.microsoft.com/office/drawing/2014/main" id="{8B0C7C07-16A8-4DFA-A5BE-D0E121A036AF}"/>
              </a:ext>
            </a:extLst>
          </p:cNvPr>
          <p:cNvPicPr>
            <a:picLocks noChangeAspect="1"/>
          </p:cNvPicPr>
          <p:nvPr/>
        </p:nvPicPr>
        <p:blipFill>
          <a:blip r:embed="rId2"/>
          <a:stretch>
            <a:fillRect/>
          </a:stretch>
        </p:blipFill>
        <p:spPr>
          <a:xfrm>
            <a:off x="6097814" y="1716088"/>
            <a:ext cx="4836885" cy="3933825"/>
          </a:xfrm>
          <a:prstGeom prst="rect">
            <a:avLst/>
          </a:prstGeom>
        </p:spPr>
      </p:pic>
    </p:spTree>
    <p:extLst>
      <p:ext uri="{BB962C8B-B14F-4D97-AF65-F5344CB8AC3E}">
        <p14:creationId xmlns:p14="http://schemas.microsoft.com/office/powerpoint/2010/main" val="88975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AD527-D80E-0B11-9767-F2BAB1F3B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935FC-05A1-1479-A883-EED5D408EB17}"/>
              </a:ext>
            </a:extLst>
          </p:cNvPr>
          <p:cNvSpPr>
            <a:spLocks noGrp="1"/>
          </p:cNvSpPr>
          <p:nvPr>
            <p:ph type="title"/>
          </p:nvPr>
        </p:nvSpPr>
        <p:spPr>
          <a:xfrm>
            <a:off x="1484311" y="685800"/>
            <a:ext cx="10018713" cy="838199"/>
          </a:xfrm>
        </p:spPr>
        <p:txBody>
          <a:bodyPr/>
          <a:lstStyle/>
          <a:p>
            <a:r>
              <a:rPr lang="en-US"/>
              <a:t>Scatter Plot</a:t>
            </a:r>
          </a:p>
        </p:txBody>
      </p:sp>
      <p:sp>
        <p:nvSpPr>
          <p:cNvPr id="3" name="Content Placeholder 2">
            <a:extLst>
              <a:ext uri="{FF2B5EF4-FFF2-40B4-BE49-F238E27FC236}">
                <a16:creationId xmlns:a16="http://schemas.microsoft.com/office/drawing/2014/main" id="{348BDCA5-7C32-D6E4-5F2B-264BED952845}"/>
              </a:ext>
            </a:extLst>
          </p:cNvPr>
          <p:cNvSpPr>
            <a:spLocks noGrp="1"/>
          </p:cNvSpPr>
          <p:nvPr>
            <p:ph idx="1"/>
          </p:nvPr>
        </p:nvSpPr>
        <p:spPr>
          <a:xfrm>
            <a:off x="1484310" y="1650999"/>
            <a:ext cx="3937228" cy="4234543"/>
          </a:xfrm>
        </p:spPr>
        <p:txBody>
          <a:bodyPr>
            <a:normAutofit fontScale="92500" lnSpcReduction="10000"/>
          </a:bodyPr>
          <a:lstStyle/>
          <a:p>
            <a:r>
              <a:rPr lang="en-US" sz="1800"/>
              <a:t>Did the following to remove the few outliers that became obvious</a:t>
            </a:r>
            <a:endParaRPr lang="en-US" sz="1800" dirty="0"/>
          </a:p>
          <a:p>
            <a:pPr lvl="1">
              <a:buClr>
                <a:srgbClr val="1287C3"/>
              </a:buClr>
            </a:pPr>
            <a:r>
              <a:rPr lang="en-US" sz="1800" dirty="0">
                <a:ea typeface="+mn-lt"/>
                <a:cs typeface="+mn-lt"/>
              </a:rPr>
              <a:t>Q1 = </a:t>
            </a:r>
            <a:r>
              <a:rPr lang="en-US" sz="1800" dirty="0" err="1">
                <a:ea typeface="+mn-lt"/>
                <a:cs typeface="+mn-lt"/>
              </a:rPr>
              <a:t>df.quantile</a:t>
            </a:r>
            <a:r>
              <a:rPr lang="en-US" sz="1800" dirty="0">
                <a:ea typeface="+mn-lt"/>
                <a:cs typeface="+mn-lt"/>
              </a:rPr>
              <a:t>(0.25)</a:t>
            </a:r>
            <a:endParaRPr lang="en-US" sz="1800" dirty="0"/>
          </a:p>
          <a:p>
            <a:pPr lvl="1">
              <a:buClr>
                <a:srgbClr val="1287C3"/>
              </a:buClr>
            </a:pPr>
            <a:r>
              <a:rPr lang="en-US" sz="1800" dirty="0">
                <a:ea typeface="+mn-lt"/>
                <a:cs typeface="+mn-lt"/>
              </a:rPr>
              <a:t>Q3 = </a:t>
            </a:r>
            <a:r>
              <a:rPr lang="en-US" sz="1800" dirty="0" err="1">
                <a:ea typeface="+mn-lt"/>
                <a:cs typeface="+mn-lt"/>
              </a:rPr>
              <a:t>df.quantile</a:t>
            </a:r>
            <a:r>
              <a:rPr lang="en-US" sz="1800" dirty="0">
                <a:ea typeface="+mn-lt"/>
                <a:cs typeface="+mn-lt"/>
              </a:rPr>
              <a:t>(0.75)</a:t>
            </a:r>
            <a:endParaRPr lang="en-US" sz="1800" dirty="0"/>
          </a:p>
          <a:p>
            <a:pPr lvl="1">
              <a:buClr>
                <a:srgbClr val="1287C3"/>
              </a:buClr>
            </a:pPr>
            <a:r>
              <a:rPr lang="en-US" sz="1800">
                <a:ea typeface="+mn-lt"/>
                <a:cs typeface="+mn-lt"/>
              </a:rPr>
              <a:t>IQR = Q3 - Q1</a:t>
            </a:r>
            <a:endParaRPr lang="en-US" sz="1800" dirty="0"/>
          </a:p>
          <a:p>
            <a:pPr lvl="1">
              <a:buClr>
                <a:srgbClr val="1287C3"/>
              </a:buClr>
            </a:pPr>
            <a:r>
              <a:rPr lang="en-US" sz="1800" dirty="0" err="1">
                <a:ea typeface="+mn-lt"/>
                <a:cs typeface="+mn-lt"/>
              </a:rPr>
              <a:t>df</a:t>
            </a:r>
            <a:r>
              <a:rPr lang="en-US" sz="1800" dirty="0">
                <a:ea typeface="+mn-lt"/>
                <a:cs typeface="+mn-lt"/>
              </a:rPr>
              <a:t> = </a:t>
            </a:r>
            <a:r>
              <a:rPr lang="en-US" sz="1800" dirty="0" err="1">
                <a:ea typeface="+mn-lt"/>
                <a:cs typeface="+mn-lt"/>
              </a:rPr>
              <a:t>df</a:t>
            </a:r>
            <a:r>
              <a:rPr lang="en-US" sz="1800" dirty="0">
                <a:ea typeface="+mn-lt"/>
                <a:cs typeface="+mn-lt"/>
              </a:rPr>
              <a:t>[~((</a:t>
            </a:r>
            <a:r>
              <a:rPr lang="en-US" sz="1800" dirty="0" err="1">
                <a:ea typeface="+mn-lt"/>
                <a:cs typeface="+mn-lt"/>
              </a:rPr>
              <a:t>df</a:t>
            </a:r>
            <a:r>
              <a:rPr lang="en-US" sz="1800" dirty="0">
                <a:ea typeface="+mn-lt"/>
                <a:cs typeface="+mn-lt"/>
              </a:rPr>
              <a:t> &lt; (Q1 - 1.5 * IQR)) |(</a:t>
            </a:r>
            <a:r>
              <a:rPr lang="en-US" sz="1800" dirty="0" err="1">
                <a:ea typeface="+mn-lt"/>
                <a:cs typeface="+mn-lt"/>
              </a:rPr>
              <a:t>df</a:t>
            </a:r>
            <a:r>
              <a:rPr lang="en-US" sz="1800" dirty="0">
                <a:ea typeface="+mn-lt"/>
                <a:cs typeface="+mn-lt"/>
              </a:rPr>
              <a:t> &gt; (Q3 + 1.5 * IQR))).any(axis=1)]</a:t>
            </a:r>
            <a:r>
              <a:rPr lang="en-US" sz="1800" dirty="0"/>
              <a:t>​</a:t>
            </a:r>
          </a:p>
          <a:p>
            <a:pPr>
              <a:buClr>
                <a:srgbClr val="1287C3"/>
              </a:buClr>
            </a:pPr>
            <a:r>
              <a:rPr lang="en-US" sz="1800" dirty="0"/>
              <a:t> I built the scatter plot with the new </a:t>
            </a:r>
            <a:r>
              <a:rPr lang="en-US" sz="1800" dirty="0" err="1"/>
              <a:t>df</a:t>
            </a:r>
            <a:r>
              <a:rPr lang="en-US" sz="1800" dirty="0"/>
              <a:t> which was 705 rows of data</a:t>
            </a:r>
          </a:p>
          <a:p>
            <a:pPr>
              <a:buClr>
                <a:srgbClr val="1287C3"/>
              </a:buClr>
            </a:pPr>
            <a:r>
              <a:rPr lang="en-US" sz="1800" dirty="0"/>
              <a:t>The new scatter plot is to the right and it does appear there is a non-</a:t>
            </a:r>
            <a:r>
              <a:rPr lang="en-US" sz="1800"/>
              <a:t>linear regression (crudely illustrated with the free hand line/arrow)</a:t>
            </a:r>
            <a:endParaRPr lang="en-US" sz="1800" dirty="0"/>
          </a:p>
          <a:p>
            <a:pPr>
              <a:buClr>
                <a:srgbClr val="1287C3"/>
              </a:buClr>
            </a:pPr>
            <a:endParaRPr lang="en-US" dirty="0"/>
          </a:p>
        </p:txBody>
      </p:sp>
      <p:pic>
        <p:nvPicPr>
          <p:cNvPr id="4" name="Picture 3">
            <a:extLst>
              <a:ext uri="{FF2B5EF4-FFF2-40B4-BE49-F238E27FC236}">
                <a16:creationId xmlns:a16="http://schemas.microsoft.com/office/drawing/2014/main" id="{B5945D34-E231-B0B2-861F-CC8304C4D7A0}"/>
              </a:ext>
            </a:extLst>
          </p:cNvPr>
          <p:cNvPicPr>
            <a:picLocks noChangeAspect="1"/>
          </p:cNvPicPr>
          <p:nvPr/>
        </p:nvPicPr>
        <p:blipFill>
          <a:blip r:embed="rId2"/>
          <a:stretch>
            <a:fillRect/>
          </a:stretch>
        </p:blipFill>
        <p:spPr>
          <a:xfrm>
            <a:off x="6152855" y="1833382"/>
            <a:ext cx="4726802" cy="3699237"/>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6CF6946-BBE5-1E1C-30AF-08C91063B3D6}"/>
                  </a:ext>
                </a:extLst>
              </p14:cNvPr>
              <p14:cNvContentPartPr/>
              <p14:nvPr/>
            </p14:nvContentPartPr>
            <p14:xfrm>
              <a:off x="7277086" y="3234306"/>
              <a:ext cx="2281521" cy="985548"/>
            </p14:xfrm>
          </p:contentPart>
        </mc:Choice>
        <mc:Fallback xmlns="">
          <p:pic>
            <p:nvPicPr>
              <p:cNvPr id="5" name="Ink 4">
                <a:extLst>
                  <a:ext uri="{FF2B5EF4-FFF2-40B4-BE49-F238E27FC236}">
                    <a16:creationId xmlns:a16="http://schemas.microsoft.com/office/drawing/2014/main" id="{96CF6946-BBE5-1E1C-30AF-08C91063B3D6}"/>
                  </a:ext>
                </a:extLst>
              </p:cNvPr>
              <p:cNvPicPr/>
              <p:nvPr/>
            </p:nvPicPr>
            <p:blipFill>
              <a:blip r:embed="rId4"/>
              <a:stretch>
                <a:fillRect/>
              </a:stretch>
            </p:blipFill>
            <p:spPr>
              <a:xfrm>
                <a:off x="7259090" y="3216675"/>
                <a:ext cx="2317153" cy="102117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D07F09E4-96DA-1DFC-8401-AC76343601C3}"/>
                  </a:ext>
                </a:extLst>
              </p14:cNvPr>
              <p14:cNvContentPartPr/>
              <p14:nvPr/>
            </p14:nvContentPartPr>
            <p14:xfrm>
              <a:off x="9193065" y="3896252"/>
              <a:ext cx="380709" cy="131295"/>
            </p14:xfrm>
          </p:contentPart>
        </mc:Choice>
        <mc:Fallback xmlns="">
          <p:pic>
            <p:nvPicPr>
              <p:cNvPr id="6" name="Ink 5">
                <a:extLst>
                  <a:ext uri="{FF2B5EF4-FFF2-40B4-BE49-F238E27FC236}">
                    <a16:creationId xmlns:a16="http://schemas.microsoft.com/office/drawing/2014/main" id="{D07F09E4-96DA-1DFC-8401-AC76343601C3}"/>
                  </a:ext>
                </a:extLst>
              </p:cNvPr>
              <p:cNvPicPr/>
              <p:nvPr/>
            </p:nvPicPr>
            <p:blipFill>
              <a:blip r:embed="rId6"/>
              <a:stretch>
                <a:fillRect/>
              </a:stretch>
            </p:blipFill>
            <p:spPr>
              <a:xfrm>
                <a:off x="9175450" y="3878316"/>
                <a:ext cx="416299" cy="166809"/>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8D3C9F4D-4003-5017-5C1C-3AA7C1DC8576}"/>
                  </a:ext>
                </a:extLst>
              </p14:cNvPr>
              <p14:cNvContentPartPr/>
              <p14:nvPr/>
            </p14:nvContentPartPr>
            <p14:xfrm>
              <a:off x="9518302" y="3934956"/>
              <a:ext cx="163387" cy="261792"/>
            </p14:xfrm>
          </p:contentPart>
        </mc:Choice>
        <mc:Fallback xmlns="">
          <p:pic>
            <p:nvPicPr>
              <p:cNvPr id="7" name="Ink 6">
                <a:extLst>
                  <a:ext uri="{FF2B5EF4-FFF2-40B4-BE49-F238E27FC236}">
                    <a16:creationId xmlns:a16="http://schemas.microsoft.com/office/drawing/2014/main" id="{8D3C9F4D-4003-5017-5C1C-3AA7C1DC8576}"/>
                  </a:ext>
                </a:extLst>
              </p:cNvPr>
              <p:cNvPicPr/>
              <p:nvPr/>
            </p:nvPicPr>
            <p:blipFill>
              <a:blip r:embed="rId8"/>
              <a:stretch>
                <a:fillRect/>
              </a:stretch>
            </p:blipFill>
            <p:spPr>
              <a:xfrm>
                <a:off x="9500347" y="3917335"/>
                <a:ext cx="198937" cy="297393"/>
              </a:xfrm>
              <a:prstGeom prst="rect">
                <a:avLst/>
              </a:prstGeom>
            </p:spPr>
          </p:pic>
        </mc:Fallback>
      </mc:AlternateContent>
    </p:spTree>
    <p:extLst>
      <p:ext uri="{BB962C8B-B14F-4D97-AF65-F5344CB8AC3E}">
        <p14:creationId xmlns:p14="http://schemas.microsoft.com/office/powerpoint/2010/main" val="340053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AA6FF-3DBB-749E-3E97-E105A8E38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4E981-609D-69DD-5ECC-546C043D5046}"/>
              </a:ext>
            </a:extLst>
          </p:cNvPr>
          <p:cNvSpPr>
            <a:spLocks noGrp="1"/>
          </p:cNvSpPr>
          <p:nvPr>
            <p:ph type="title"/>
          </p:nvPr>
        </p:nvSpPr>
        <p:spPr>
          <a:xfrm>
            <a:off x="1484311" y="685800"/>
            <a:ext cx="10018713" cy="838199"/>
          </a:xfrm>
        </p:spPr>
        <p:txBody>
          <a:bodyPr/>
          <a:lstStyle/>
          <a:p>
            <a:r>
              <a:rPr lang="en-US"/>
              <a:t>Regression</a:t>
            </a:r>
          </a:p>
        </p:txBody>
      </p:sp>
      <p:sp>
        <p:nvSpPr>
          <p:cNvPr id="3" name="Content Placeholder 2">
            <a:extLst>
              <a:ext uri="{FF2B5EF4-FFF2-40B4-BE49-F238E27FC236}">
                <a16:creationId xmlns:a16="http://schemas.microsoft.com/office/drawing/2014/main" id="{8A29A55A-E878-55A1-AD38-F7FA3CCE2506}"/>
              </a:ext>
            </a:extLst>
          </p:cNvPr>
          <p:cNvSpPr>
            <a:spLocks noGrp="1"/>
          </p:cNvSpPr>
          <p:nvPr>
            <p:ph idx="1"/>
          </p:nvPr>
        </p:nvSpPr>
        <p:spPr>
          <a:xfrm>
            <a:off x="1484310" y="1534885"/>
            <a:ext cx="3262313" cy="3356430"/>
          </a:xfrm>
        </p:spPr>
        <p:txBody>
          <a:bodyPr>
            <a:normAutofit lnSpcReduction="10000"/>
          </a:bodyPr>
          <a:lstStyle/>
          <a:p>
            <a:r>
              <a:rPr lang="en-US" dirty="0"/>
              <a:t>I used the linear training equation we learned in class to confirm </a:t>
            </a:r>
            <a:r>
              <a:rPr lang="en-US"/>
              <a:t>there is nonlinear regression​</a:t>
            </a:r>
          </a:p>
          <a:p>
            <a:pPr>
              <a:buClr>
                <a:srgbClr val="1287C3"/>
              </a:buClr>
            </a:pPr>
            <a:r>
              <a:rPr lang="en-US" dirty="0"/>
              <a:t>With the regression line, it turns in to an example "underfitting"</a:t>
            </a:r>
          </a:p>
        </p:txBody>
      </p:sp>
      <p:pic>
        <p:nvPicPr>
          <p:cNvPr id="4" name="Picture 3">
            <a:extLst>
              <a:ext uri="{FF2B5EF4-FFF2-40B4-BE49-F238E27FC236}">
                <a16:creationId xmlns:a16="http://schemas.microsoft.com/office/drawing/2014/main" id="{E47BA993-6B2D-4F2B-140B-1757CD4177D8}"/>
              </a:ext>
            </a:extLst>
          </p:cNvPr>
          <p:cNvPicPr>
            <a:picLocks noChangeAspect="1"/>
          </p:cNvPicPr>
          <p:nvPr/>
        </p:nvPicPr>
        <p:blipFill>
          <a:blip r:embed="rId2"/>
          <a:stretch>
            <a:fillRect/>
          </a:stretch>
        </p:blipFill>
        <p:spPr>
          <a:xfrm>
            <a:off x="4695825" y="1715634"/>
            <a:ext cx="3584121" cy="2701018"/>
          </a:xfrm>
          <a:prstGeom prst="rect">
            <a:avLst/>
          </a:prstGeom>
        </p:spPr>
      </p:pic>
      <p:pic>
        <p:nvPicPr>
          <p:cNvPr id="5" name="Picture 4">
            <a:extLst>
              <a:ext uri="{FF2B5EF4-FFF2-40B4-BE49-F238E27FC236}">
                <a16:creationId xmlns:a16="http://schemas.microsoft.com/office/drawing/2014/main" id="{8FD51EC7-2EB8-9FE3-2744-C948D5B3BC3E}"/>
              </a:ext>
            </a:extLst>
          </p:cNvPr>
          <p:cNvPicPr>
            <a:picLocks noChangeAspect="1"/>
          </p:cNvPicPr>
          <p:nvPr/>
        </p:nvPicPr>
        <p:blipFill>
          <a:blip r:embed="rId3"/>
          <a:stretch>
            <a:fillRect/>
          </a:stretch>
        </p:blipFill>
        <p:spPr>
          <a:xfrm>
            <a:off x="8282667" y="1717448"/>
            <a:ext cx="3787322" cy="2711450"/>
          </a:xfrm>
          <a:prstGeom prst="rect">
            <a:avLst/>
          </a:prstGeom>
        </p:spPr>
      </p:pic>
    </p:spTree>
    <p:extLst>
      <p:ext uri="{BB962C8B-B14F-4D97-AF65-F5344CB8AC3E}">
        <p14:creationId xmlns:p14="http://schemas.microsoft.com/office/powerpoint/2010/main" val="4032789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88AB8-E28F-FEEF-03EB-C32CDAC6F974}"/>
              </a:ext>
            </a:extLst>
          </p:cNvPr>
          <p:cNvSpPr>
            <a:spLocks noGrp="1"/>
          </p:cNvSpPr>
          <p:nvPr>
            <p:ph type="title"/>
          </p:nvPr>
        </p:nvSpPr>
        <p:spPr/>
        <p:txBody>
          <a:bodyPr/>
          <a:lstStyle/>
          <a:p>
            <a:r>
              <a:rPr lang="en-US"/>
              <a:t>Findings</a:t>
            </a:r>
          </a:p>
        </p:txBody>
      </p:sp>
      <p:sp>
        <p:nvSpPr>
          <p:cNvPr id="3" name="Content Placeholder 2">
            <a:extLst>
              <a:ext uri="{FF2B5EF4-FFF2-40B4-BE49-F238E27FC236}">
                <a16:creationId xmlns:a16="http://schemas.microsoft.com/office/drawing/2014/main" id="{2EFFA1F6-E6CF-9358-1B54-F256FCC57914}"/>
              </a:ext>
            </a:extLst>
          </p:cNvPr>
          <p:cNvSpPr>
            <a:spLocks noGrp="1"/>
          </p:cNvSpPr>
          <p:nvPr>
            <p:ph idx="1"/>
          </p:nvPr>
        </p:nvSpPr>
        <p:spPr/>
        <p:txBody>
          <a:bodyPr/>
          <a:lstStyle/>
          <a:p>
            <a:r>
              <a:rPr lang="en-US" dirty="0"/>
              <a:t>After data cleaning and building my scatter plot model, I utilized regression (which would fall under supervised machine learning) to try and confirm if there is potentially a direct relationship between increased tem</a:t>
            </a:r>
            <a:r>
              <a:rPr lang="en-US"/>
              <a:t>p leading to an increase in dissolved water. </a:t>
            </a:r>
          </a:p>
          <a:p>
            <a:pPr>
              <a:buClr>
                <a:srgbClr val="1287C3"/>
              </a:buClr>
            </a:pPr>
            <a:r>
              <a:rPr lang="en-US" dirty="0"/>
              <a:t>The relationship does not seem to be linear, it would fall under non-linear. That is still categorized as supervised machine learning. ​</a:t>
            </a:r>
          </a:p>
          <a:p>
            <a:pPr>
              <a:buClr>
                <a:srgbClr val="1287C3"/>
              </a:buClr>
            </a:pPr>
            <a:endParaRPr lang="en-US" dirty="0"/>
          </a:p>
        </p:txBody>
      </p:sp>
    </p:spTree>
    <p:extLst>
      <p:ext uri="{BB962C8B-B14F-4D97-AF65-F5344CB8AC3E}">
        <p14:creationId xmlns:p14="http://schemas.microsoft.com/office/powerpoint/2010/main" val="2295060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9515C-A6E1-C1EA-93B5-6DC316FBFF55}"/>
              </a:ext>
            </a:extLst>
          </p:cNvPr>
          <p:cNvSpPr>
            <a:spLocks noGrp="1"/>
          </p:cNvSpPr>
          <p:nvPr>
            <p:ph type="title"/>
          </p:nvPr>
        </p:nvSpPr>
        <p:spPr/>
        <p:txBody>
          <a:bodyPr/>
          <a:lstStyle/>
          <a:p>
            <a:r>
              <a:rPr lang="en-US"/>
              <a:t>Takeaways</a:t>
            </a:r>
          </a:p>
        </p:txBody>
      </p:sp>
      <p:sp>
        <p:nvSpPr>
          <p:cNvPr id="3" name="Content Placeholder 2">
            <a:extLst>
              <a:ext uri="{FF2B5EF4-FFF2-40B4-BE49-F238E27FC236}">
                <a16:creationId xmlns:a16="http://schemas.microsoft.com/office/drawing/2014/main" id="{7B69774A-4D50-CDCE-C94D-2417127E6B56}"/>
              </a:ext>
            </a:extLst>
          </p:cNvPr>
          <p:cNvSpPr>
            <a:spLocks noGrp="1"/>
          </p:cNvSpPr>
          <p:nvPr>
            <p:ph idx="1"/>
          </p:nvPr>
        </p:nvSpPr>
        <p:spPr/>
        <p:txBody>
          <a:bodyPr>
            <a:normAutofit fontScale="92500" lnSpcReduction="10000"/>
          </a:bodyPr>
          <a:lstStyle/>
          <a:p>
            <a:r>
              <a:rPr lang="en-US" dirty="0"/>
              <a:t>Due to there not being a clear linear relationship, it can not be concluded that as temperatures rise, salinity goes up. </a:t>
            </a:r>
          </a:p>
          <a:p>
            <a:pPr>
              <a:buClr>
                <a:srgbClr val="1287C3"/>
              </a:buClr>
            </a:pPr>
            <a:r>
              <a:rPr lang="en-US"/>
              <a:t>Thoughts on where I would go next:</a:t>
            </a:r>
            <a:endParaRPr lang="en-US" dirty="0"/>
          </a:p>
          <a:p>
            <a:pPr lvl="1">
              <a:buClr>
                <a:srgbClr val="1287C3"/>
              </a:buClr>
              <a:buFont typeface="Courier New"/>
              <a:buChar char="o"/>
            </a:pPr>
            <a:r>
              <a:rPr lang="en-US" dirty="0"/>
              <a:t>I would want to add a 3rd variable, mostly O2ml_L, to see if the amount of </a:t>
            </a:r>
            <a:r>
              <a:rPr lang="en-US"/>
              <a:t> oxygen </a:t>
            </a:r>
            <a:r>
              <a:rPr lang="en-US" dirty="0"/>
              <a:t>in the sample could be </a:t>
            </a:r>
            <a:r>
              <a:rPr lang="en-US"/>
              <a:t>impacting this. </a:t>
            </a:r>
          </a:p>
          <a:p>
            <a:pPr lvl="1">
              <a:buClr>
                <a:srgbClr val="1287C3"/>
              </a:buClr>
              <a:buFont typeface="Courier New"/>
              <a:buChar char="o"/>
            </a:pPr>
            <a:r>
              <a:rPr lang="en-US" dirty="0"/>
              <a:t>If that still did not establish a clear linear connection, I would consider expanding to the full dataset available from </a:t>
            </a:r>
            <a:r>
              <a:rPr lang="en-US" dirty="0" err="1"/>
              <a:t>CalCOFI</a:t>
            </a:r>
            <a:r>
              <a:rPr lang="en-US" dirty="0"/>
              <a:t>. I think having a full range of data could help me determine that either their truly isn't a relationship between the temperature and the salinity or that there is </a:t>
            </a:r>
            <a:r>
              <a:rPr lang="en-US" dirty="0" err="1"/>
              <a:t>ju</a:t>
            </a:r>
            <a:r>
              <a:rPr lang="en-US" dirty="0"/>
              <a:t>st another variable that needs to be considered.</a:t>
            </a:r>
          </a:p>
        </p:txBody>
      </p:sp>
    </p:spTree>
    <p:extLst>
      <p:ext uri="{BB962C8B-B14F-4D97-AF65-F5344CB8AC3E}">
        <p14:creationId xmlns:p14="http://schemas.microsoft.com/office/powerpoint/2010/main" val="324644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A9F5E-AF46-8B5B-CC84-E9FE9B19B943}"/>
              </a:ext>
            </a:extLst>
          </p:cNvPr>
          <p:cNvSpPr>
            <a:spLocks noGrp="1"/>
          </p:cNvSpPr>
          <p:nvPr>
            <p:ph type="title"/>
          </p:nvPr>
        </p:nvSpPr>
        <p:spPr/>
        <p:txBody>
          <a:bodyPr/>
          <a:lstStyle/>
          <a:p>
            <a:r>
              <a:rPr lang="en-US"/>
              <a:t>Sources</a:t>
            </a:r>
          </a:p>
        </p:txBody>
      </p:sp>
      <p:sp>
        <p:nvSpPr>
          <p:cNvPr id="3" name="Content Placeholder 2">
            <a:extLst>
              <a:ext uri="{FF2B5EF4-FFF2-40B4-BE49-F238E27FC236}">
                <a16:creationId xmlns:a16="http://schemas.microsoft.com/office/drawing/2014/main" id="{DA6F0134-B1CF-E85C-FCD9-8BC8682C1489}"/>
              </a:ext>
            </a:extLst>
          </p:cNvPr>
          <p:cNvSpPr>
            <a:spLocks noGrp="1"/>
          </p:cNvSpPr>
          <p:nvPr>
            <p:ph idx="1"/>
          </p:nvPr>
        </p:nvSpPr>
        <p:spPr/>
        <p:txBody>
          <a:bodyPr>
            <a:normAutofit fontScale="92500" lnSpcReduction="20000"/>
          </a:bodyPr>
          <a:lstStyle/>
          <a:p>
            <a:r>
              <a:rPr lang="en-US" dirty="0">
                <a:ea typeface="+mn-lt"/>
                <a:cs typeface="+mn-lt"/>
                <a:hlinkClick r:id="rId2"/>
              </a:rPr>
              <a:t>https://calcofi.org/</a:t>
            </a:r>
          </a:p>
          <a:p>
            <a:pPr>
              <a:buClr>
                <a:srgbClr val="1287C3"/>
              </a:buClr>
            </a:pPr>
            <a:r>
              <a:rPr lang="en-US" dirty="0">
                <a:ea typeface="+mn-lt"/>
                <a:cs typeface="+mn-lt"/>
                <a:hlinkClick r:id="rId3"/>
              </a:rPr>
              <a:t>https://calcofi.org/data/oceanographic-data/bottle-database/</a:t>
            </a:r>
          </a:p>
          <a:p>
            <a:pPr>
              <a:buClr>
                <a:srgbClr val="1287C3"/>
              </a:buClr>
            </a:pPr>
            <a:r>
              <a:rPr lang="en-US" dirty="0">
                <a:ea typeface="+mn-lt"/>
                <a:cs typeface="+mn-lt"/>
                <a:hlinkClick r:id="rId4"/>
              </a:rPr>
              <a:t>https://www.epa.gov/national-aquatic-resource-surveys/indicators-salinity</a:t>
            </a:r>
          </a:p>
          <a:p>
            <a:pPr>
              <a:buClr>
                <a:srgbClr val="1287C3"/>
              </a:buClr>
            </a:pPr>
            <a:r>
              <a:rPr lang="en-US" dirty="0">
                <a:ea typeface="+mn-lt"/>
                <a:cs typeface="+mn-lt"/>
                <a:hlinkClick r:id="rId5"/>
              </a:rPr>
              <a:t>https://www.nature.com/scitable/knowledge/library/key-physical-variables-in-the-ocean-temperature-102805293/</a:t>
            </a:r>
          </a:p>
          <a:p>
            <a:pPr>
              <a:buClr>
                <a:srgbClr val="1287C3"/>
              </a:buClr>
            </a:pPr>
            <a:r>
              <a:rPr lang="en-US" dirty="0">
                <a:ea typeface="+mn-lt"/>
                <a:cs typeface="+mn-lt"/>
                <a:hlinkClick r:id="rId6"/>
              </a:rPr>
              <a:t>https://pandas.pydata.org/pandas-docs/stable/reference/api/pandas.DataFrame.dropna.html</a:t>
            </a:r>
            <a:endParaRPr lang="en-US" dirty="0">
              <a:ea typeface="+mn-lt"/>
              <a:cs typeface="+mn-lt"/>
            </a:endParaRPr>
          </a:p>
          <a:p>
            <a:pPr>
              <a:buClr>
                <a:srgbClr val="1287C3"/>
              </a:buClr>
            </a:pPr>
            <a:r>
              <a:rPr lang="en-US" dirty="0">
                <a:ea typeface="+mn-lt"/>
                <a:cs typeface="+mn-lt"/>
                <a:hlinkClick r:id="rId7"/>
              </a:rPr>
              <a:t>https://pandas.pydata.org/docs/reference/api/pandas.DataFrame.rename.html</a:t>
            </a:r>
            <a:endParaRPr lang="en-US" dirty="0"/>
          </a:p>
        </p:txBody>
      </p:sp>
    </p:spTree>
    <p:extLst>
      <p:ext uri="{BB962C8B-B14F-4D97-AF65-F5344CB8AC3E}">
        <p14:creationId xmlns:p14="http://schemas.microsoft.com/office/powerpoint/2010/main" val="352247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Parallax</vt:lpstr>
      <vt:lpstr>Intro to Data Science </vt:lpstr>
      <vt:lpstr>Dataset Background</vt:lpstr>
      <vt:lpstr>Dataset Background</vt:lpstr>
      <vt:lpstr>Question:</vt:lpstr>
      <vt:lpstr>Data Cleaning Process</vt:lpstr>
      <vt:lpstr>Data Cleaning Process</vt:lpstr>
      <vt:lpstr>Data Cleaning Process</vt:lpstr>
      <vt:lpstr>Data Cleaning Process</vt:lpstr>
      <vt:lpstr>Data Cleaning Process</vt:lpstr>
      <vt:lpstr>Scatter Plot</vt:lpstr>
      <vt:lpstr>Scatter Plot</vt:lpstr>
      <vt:lpstr>Regression</vt:lpstr>
      <vt:lpstr>Findings</vt:lpstr>
      <vt:lpstr>Takeaways</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413</cp:revision>
  <dcterms:created xsi:type="dcterms:W3CDTF">2026-07-26T19:23:20Z</dcterms:created>
  <dcterms:modified xsi:type="dcterms:W3CDTF">2026-07-29T23:53:08Z</dcterms:modified>
</cp:coreProperties>
</file>